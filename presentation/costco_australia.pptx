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prices are politically charged in Australia, and the ACCC
is the country's competition watchdog. The question we tackle:
when a credible new entrant like Costco opens a gas station,
does it actually pull nearby competitor prices down? We are
[NAMES], and our client is the Australian Competition and
Consumer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market the ACCC is asked to keep competitive. Four
major brands, Ampol, BP, Viva or Shell, and Coles or Reddy
Express, together control 40 percent of national retail fuel
volume. Five more large retail chains, including 7-Eleven, EG
Group, and Chevron, add another 34 percent. So nine brands
together hold 74 percent of the market. Costco shows up in the
smaller-independents tier, alongside Liberty, Metro, and about
30 other brands. The empirical question becomes: when a
credible new entrant like Costco arrives, does the rest of the
market actually respond? That is what we set out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that, we needed to nail down what we mean by the
local market. Look at the schematic. The blue dot is the
Costco. Every navy dot inside the 5 kilometer ring is a
competitor we treat as in the market. Anything beyond 5
kilometers is outside. Crucially, the price we track is not
Costco's own. Costco is cheap by design. We are asking whether
everyone else in the ring lowers their prices when Costco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end up before we walk you through the work.
At Perth Airport in WA, competitor prices ran about 3.4 cents
per litre below their synthetic counterfactual, sustained for
six straight years, with a 95 percent confidence interval that
excludes zero. The other three Costcos we studied were
inconclusive, for reasons we will get into. Based on the Perth
Airport finding, our recommendation to the ACCC is to lower
the zoning and lease barriers that delay big-box fuel entry.
Let us walk you through how we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comes from three Australian state fuel registries,
all public. NSW FuelCheck covers December 2016 through January
2026. QLD Fuel Price Reporting covers December 2018 through
December 2025. WA FuelWatch covers January 2018 through April
2026. We clean and aggregate every individual price report
into a monthly station-level panel of 6,084 unique stations
across roughly 96 months. From the raw data we use six fields:
station_id, postcode, latitude, longitude, date, and
unleaded_price. We construct one variable, mean_price_cents,
which is the average unleaded price per station per month.
That panel feeds our synthetic-control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dot on this map is one of those 6,084 stations. NSW
gives us 3,281 stations, QLD gives us 1,882, and WA gives us
921. The pattern follows population: stations cluster along
the east coast and around Perth in the southwest, with an
essentially empty interior. That means our donor pool, the
postcodes we build counterfactuals from, naturally concentrates
where Costco lives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big filters on each side. On the left, all 10 Australian
Costco fuel stations. We drop 5 with fewer than 24 months of
pre-opening data, and one more, Auburn, with fewer than 12
months of post-opening data. That leaves 4 treated Costcos:
Coomera, Casuarina, Perth Airport, and Lake Macquarie. On the
right, 1,004 NSW, QLD, and WA postcodes that report unleaded
prices. We drop 362 within 20 kilometers of any Costco, since
those are already exposed. We drop 446 more that average fewer
than 3 stations per month, too noisy to trust monthly. That
leaves 196 donor postcodes that build our counterfactuals.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we separate cause from correlation. For each treated
Costco, we build a synthetic version of it: a weighted blend
of donor postcodes whose pre-Costco price history matches the
treated ring as closely as possible. Once Costco opens, the
gap between the actual prices and the synthetic prices is what
we attribute to Costco. The identifying assumption is that
nothing else changed differently between the treated 5 km ring
and its synthetic blend. On this map you can see the 4 treated
Costcos as blue dots, each surrounded by a 20 kilometer
exclusion ring in dashed gray so donors stay clean. The 196
donor postcodes are the green dots. The inset zooms into
Coomera so you can see the 5 km treated ring in coral. Donors
are restricted to the same state as the treated Costco, so any
state-level shock is absorbed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figure. The top panel is Perth Airport, our
cleanest case. X axis is months from 2018 through 2026. Y
axis is the mean unleaded price within 5 kilometers of Perth
Airport, in cents per litre. The solid blue line is the actual
price competitors charged. The dashed navy line is the
synthetic counterfactual. The coral band is the 95 percent
confidence interval from donor permutation. Look at the
pre-period: actual and synthetic track each other tightly
through 2018 and 2019. That is the proof our counterfactual
is credible. The dotted vertical line marks February 2020,
when Costco opened. After that, actual drops about 3.4 cents
per litre below synthetic and stays there for six years. The
MSPE ratio is 4.31, well above the credibility bar. The
bottom row shows the other three Costcos. Notice the much
shorter post-windows, and notice that none of them produces a
clean separation like Perth Airport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results in summary form. Each row is one Costco.
The dot is the point estimate. The horizontal bar is the 95
percent confidence interval. The vertical dashed line is zero.
Only Perth Airport, in blue, has a confidence interval that
sits squarely below zero and clears our pre-set credibility
bar. Casuarina looks tight, but that is artificial: its 5 km
ring contains only about 3 stations on average, so there is
barely any donor variation to compare against. Coomera is
inconclusive, with a CI that straddles zero. Lake Macquarie
comes in wrong-signed, but we trace that to a 5 km geometry
artifact, documented in our robustness checks. The honest
read: one of four is clean, and we are not going to claim
more than the data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to break our headline finding seven different ways.
Here is the most intuitive: a placebo in time. We pretend
Costco arrived 12 months early, in February 2019, refit on
truncated data, and check whether a fake effect appears at
the fake date. The honest answer is: partially. The placebo
gap is about negative 1.96 cents per litre with a CI that
excludes zero. That means there is some pre-existing downward
drift in WA prices. But the real post-Costco gap of negative
3.4 is much larger, so the Costco-incremental effect is
around negative 1.4 cents per litre. Real, just smaller than
the headline number. Three more checks worth highlighting,
each addressing a different concern someone might raise.
Was this a COVID artifact? We dropped March through December
2020 and the gap barely moved. Did we get lucky with the
5 km ring? We re-ran at 3 km and 8 km and the sign and
magnitude survive. Could Costco be affecting far-away
stations and contaminating our donors? We tested the 5 to
20 km donut and saw no comparable price drop. Three more
checks are in our analysis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concrete recommendations for the ACCC. First, use
advocacy and merger-review powers to lower the zoning and
lease barriers that delay big-box fuel entry. Second, treat
the documented Costco price-discipline effect as a substantive
consideration in fuel-retail merger review. Back-of-envelope,
in Australian dollars: a typical 5 kilometer urban ring covers
roughly 100,000 residents and about 63 million litres of
competitor fuel per year. At our conservative Costco-specific
estimate of negative 1.4 cents per litre, that is about
0.9 million dollars in consumer savings per ring per year. If
lowering barriers enables ten more credible big-box entries
nationwide, that scales to roughly 9 million dollars per year
in aggregate consumer savings. Modest by federal-budget
standards, real on the ground, and the policy cost is
essentially the cost of advocacy.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our robustness checks did not fully resolve.
One: only Perth Airport is a clean case. We cannot claim
Costco always disciplines prices everywhere. Two: the 5 km
ring is a researcher choice, and results shift at 3 km and
8 km. Three: we identify the effect, not the mechanism.
Whether competitors respond via price-matching, volume
advantages, or consumer perception, our data cannot tell.
Four: the QLD and NSW Costcos need more post-opening months
before they can be read cleanly.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any questions on the methodology, the robustness checks, or the back-of-envelope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t"/>
          <a:lstStyle/>
          <a:p>
            <a:pPr algn="l" indent="0" marL="0">
              <a:buNone/>
            </a:pPr>
            <a:r>
              <a:rPr lang="en-US" sz="1400" b="1" spc="400" kern="0" dirty="0">
                <a:solidFill>
                  <a:srgbClr val="8FB8DD"/>
                </a:solidFill>
                <a:latin typeface="Calibri" pitchFamily="34" charset="0"/>
                <a:ea typeface="Calibri" pitchFamily="34" charset="-122"/>
                <a:cs typeface="Calibri" pitchFamily="34" charset="-120"/>
              </a:rPr>
              <a:t>MGT159  ·  Advising the ACCC</a:t>
            </a:r>
            <a:endParaRPr lang="en-US" sz="1400" dirty="0"/>
          </a:p>
        </p:txBody>
      </p:sp>
      <p:sp>
        <p:nvSpPr>
          <p:cNvPr id="3" name="Text 1"/>
          <p:cNvSpPr/>
          <p:nvPr/>
        </p:nvSpPr>
        <p:spPr>
          <a:xfrm>
            <a:off x="640080" y="1463040"/>
            <a:ext cx="11155680" cy="3657600"/>
          </a:xfrm>
          <a:prstGeom prst="rect">
            <a:avLst/>
          </a:prstGeom>
          <a:noFill/>
          <a:ln/>
        </p:spPr>
        <p:txBody>
          <a:bodyPr wrap="square" rtlCol="0" anchor="t"/>
          <a:lstStyle/>
          <a:p>
            <a:pPr algn="l" indent="0" marL="0">
              <a:lnSpc>
                <a:spcPct val="115000"/>
              </a:lnSpc>
              <a:buNone/>
            </a:pPr>
            <a:r>
              <a:rPr lang="en-US" sz="4000" b="1" dirty="0">
                <a:solidFill>
                  <a:srgbClr val="FFFFFF"/>
                </a:solidFill>
                <a:latin typeface="Georgia" pitchFamily="34" charset="0"/>
                <a:ea typeface="Georgia" pitchFamily="34" charset="-122"/>
                <a:cs typeface="Georgia" pitchFamily="34" charset="-120"/>
              </a:rPr>
              <a:t>Does the entry of a Costco gas station</a:t>
            </a:r>
            <a:endParaRPr lang="en-US" sz="4000" dirty="0"/>
          </a:p>
          <a:p>
            <a:pPr algn="l" indent="0" marL="0">
              <a:lnSpc>
                <a:spcPct val="115000"/>
              </a:lnSpc>
              <a:buNone/>
            </a:pPr>
            <a:r>
              <a:rPr lang="en-US" sz="4000" b="1" dirty="0">
                <a:solidFill>
                  <a:srgbClr val="FFFFFF"/>
                </a:solidFill>
                <a:latin typeface="Georgia" pitchFamily="34" charset="0"/>
                <a:ea typeface="Georgia" pitchFamily="34" charset="-122"/>
                <a:cs typeface="Georgia" pitchFamily="34" charset="-120"/>
              </a:rPr>
              <a:t>into an Australian local market cause</a:t>
            </a:r>
            <a:endParaRPr lang="en-US" sz="4000" dirty="0"/>
          </a:p>
          <a:p>
            <a:pPr algn="l" indent="0" marL="0">
              <a:lnSpc>
                <a:spcPct val="115000"/>
              </a:lnSpc>
              <a:buNone/>
            </a:pPr>
            <a:r>
              <a:rPr lang="en-US" sz="4000" b="1" dirty="0">
                <a:solidFill>
                  <a:srgbClr val="FFFFFF"/>
                </a:solidFill>
                <a:latin typeface="Georgia" pitchFamily="34" charset="0"/>
                <a:ea typeface="Georgia" pitchFamily="34" charset="-122"/>
                <a:cs typeface="Georgia" pitchFamily="34" charset="-120"/>
              </a:rPr>
              <a:t>nearby competitor stations to lower</a:t>
            </a:r>
            <a:endParaRPr lang="en-US" sz="4000" dirty="0"/>
          </a:p>
          <a:p>
            <a:pPr algn="l" indent="0" marL="0">
              <a:lnSpc>
                <a:spcPct val="115000"/>
              </a:lnSpc>
              <a:buNone/>
            </a:pPr>
            <a:r>
              <a:rPr lang="en-US" sz="4000" b="1" dirty="0">
                <a:solidFill>
                  <a:srgbClr val="FFFFFF"/>
                </a:solidFill>
                <a:latin typeface="Georgia" pitchFamily="34" charset="0"/>
                <a:ea typeface="Georgia" pitchFamily="34" charset="-122"/>
                <a:cs typeface="Georgia" pitchFamily="34" charset="-120"/>
              </a:rPr>
              <a:t>their retail fuel prices?</a:t>
            </a:r>
            <a:endParaRPr lang="en-US" sz="4000" dirty="0"/>
          </a:p>
        </p:txBody>
      </p:sp>
      <p:sp>
        <p:nvSpPr>
          <p:cNvPr id="4" name="Text 2"/>
          <p:cNvSpPr/>
          <p:nvPr/>
        </p:nvSpPr>
        <p:spPr>
          <a:xfrm>
            <a:off x="640080" y="5440680"/>
            <a:ext cx="10972800" cy="457200"/>
          </a:xfrm>
          <a:prstGeom prst="rect">
            <a:avLst/>
          </a:prstGeom>
          <a:noFill/>
          <a:ln/>
        </p:spPr>
        <p:txBody>
          <a:bodyPr wrap="square" rtlCol="0" anchor="t"/>
          <a:lstStyle/>
          <a:p>
            <a:pPr algn="l" indent="0" marL="0">
              <a:buNone/>
            </a:pPr>
            <a:r>
              <a:rPr lang="en-US" sz="1500" i="1" dirty="0">
                <a:solidFill>
                  <a:srgbClr val="CADCFC"/>
                </a:solidFill>
                <a:latin typeface="Calibri" pitchFamily="34" charset="0"/>
                <a:ea typeface="Calibri" pitchFamily="34" charset="-122"/>
                <a:cs typeface="Calibri" pitchFamily="34" charset="-120"/>
              </a:rPr>
              <a:t>A synthetic-control study, advising the Australian Competition and Consumer Commission.</a:t>
            </a:r>
            <a:endParaRPr lang="en-US" sz="1500" dirty="0"/>
          </a:p>
        </p:txBody>
      </p:sp>
      <p:sp>
        <p:nvSpPr>
          <p:cNvPr id="5" name="Text 3"/>
          <p:cNvSpPr/>
          <p:nvPr/>
        </p:nvSpPr>
        <p:spPr>
          <a:xfrm>
            <a:off x="640080" y="6126480"/>
            <a:ext cx="10972800" cy="365760"/>
          </a:xfrm>
          <a:prstGeom prst="rect">
            <a:avLst/>
          </a:prstGeom>
          <a:noFill/>
          <a:ln/>
        </p:spPr>
        <p:txBody>
          <a:bodyPr wrap="square" rtlCol="0" anchor="ctr"/>
          <a:lstStyle/>
          <a:p>
            <a:pPr algn="l" indent="0" marL="0">
              <a:buNone/>
            </a:pPr>
            <a:r>
              <a:rPr lang="en-US" sz="1400" dirty="0">
                <a:solidFill>
                  <a:srgbClr val="8FB8DD"/>
                </a:solidFill>
                <a:latin typeface="Calibri" pitchFamily="34" charset="0"/>
                <a:ea typeface="Calibri" pitchFamily="34" charset="-122"/>
                <a:cs typeface="Calibri" pitchFamily="34" charset="-120"/>
              </a:rPr>
              <a:t>[Speaker 1]  ·  [Speaker 2]  ·  [Speaker 3]  ·  [Speaker 4]</a:t>
            </a:r>
            <a:endParaRPr lang="en-US" sz="1400" dirty="0"/>
          </a:p>
        </p:txBody>
      </p:sp>
      <p:sp>
        <p:nvSpPr>
          <p:cNvPr id="6" name="Text 4"/>
          <p:cNvSpPr/>
          <p:nvPr/>
        </p:nvSpPr>
        <p:spPr>
          <a:xfrm>
            <a:off x="10607040" y="502920"/>
            <a:ext cx="1097280" cy="365760"/>
          </a:xfrm>
          <a:prstGeom prst="rect">
            <a:avLst/>
          </a:prstGeom>
          <a:noFill/>
          <a:ln/>
        </p:spPr>
        <p:txBody>
          <a:bodyPr wrap="square" rtlCol="0" anchor="ctr"/>
          <a:lstStyle/>
          <a:p>
            <a:pPr algn="r" indent="0" marL="0">
              <a:buNone/>
            </a:pPr>
            <a:r>
              <a:rPr lang="en-US" sz="1100" dirty="0">
                <a:solidFill>
                  <a:srgbClr val="8FB8DD"/>
                </a:solidFill>
                <a:latin typeface="Calibri" pitchFamily="34" charset="0"/>
                <a:ea typeface="Calibri" pitchFamily="34" charset="-122"/>
                <a:cs typeface="Calibri" pitchFamily="34" charset="-120"/>
              </a:rPr>
              <a:t>01 / 13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14400" y="2423160"/>
            <a:ext cx="640080" cy="41148"/>
          </a:xfrm>
          <a:prstGeom prst="rect">
            <a:avLst/>
          </a:prstGeom>
          <a:solidFill>
            <a:srgbClr val="5E8EBF"/>
          </a:solidFill>
          <a:ln w="12700">
            <a:solidFill>
              <a:srgbClr val="5E8EBF"/>
            </a:solidFill>
            <a:prstDash val="solid"/>
          </a:ln>
        </p:spPr>
      </p:sp>
      <p:sp>
        <p:nvSpPr>
          <p:cNvPr id="3" name="Text 1"/>
          <p:cNvSpPr/>
          <p:nvPr/>
        </p:nvSpPr>
        <p:spPr>
          <a:xfrm>
            <a:off x="914400" y="2606040"/>
            <a:ext cx="2743200" cy="1463040"/>
          </a:xfrm>
          <a:prstGeom prst="rect">
            <a:avLst/>
          </a:prstGeom>
          <a:noFill/>
          <a:ln/>
        </p:spPr>
        <p:txBody>
          <a:bodyPr wrap="square" lIns="0" tIns="0" rIns="0" bIns="0" rtlCol="0" anchor="t"/>
          <a:lstStyle/>
          <a:p>
            <a:pPr algn="l" indent="0" marL="0">
              <a:buNone/>
            </a:pPr>
            <a:r>
              <a:rPr lang="en-US" sz="9600" b="1" dirty="0">
                <a:solidFill>
                  <a:srgbClr val="5E8EBF"/>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914400" y="4206240"/>
            <a:ext cx="10058400" cy="914400"/>
          </a:xfrm>
          <a:prstGeom prst="rect">
            <a:avLst/>
          </a:prstGeom>
          <a:noFill/>
          <a:ln/>
        </p:spPr>
        <p:txBody>
          <a:bodyPr wrap="square" lIns="0" tIns="0" rIns="0" bIns="0" rtlCol="0" anchor="t"/>
          <a:lstStyle/>
          <a:p>
            <a:pPr algn="l" indent="0" marL="0">
              <a:buNone/>
            </a:pPr>
            <a:r>
              <a:rPr lang="en-US" sz="4800" b="1" spc="200" kern="0" dirty="0">
                <a:solidFill>
                  <a:srgbClr val="FFFFFF"/>
                </a:solidFill>
                <a:latin typeface="Georgia" pitchFamily="34" charset="0"/>
                <a:ea typeface="Georgia" pitchFamily="34" charset="-122"/>
                <a:cs typeface="Georgia" pitchFamily="34" charset="-120"/>
              </a:rPr>
              <a:t>THE QUESTION</a:t>
            </a:r>
            <a:endParaRPr lang="en-US" sz="4800" dirty="0"/>
          </a:p>
        </p:txBody>
      </p:sp>
      <p:sp>
        <p:nvSpPr>
          <p:cNvPr id="5" name="Text 3"/>
          <p:cNvSpPr/>
          <p:nvPr/>
        </p:nvSpPr>
        <p:spPr>
          <a:xfrm>
            <a:off x="914400" y="5166360"/>
            <a:ext cx="10058400" cy="731520"/>
          </a:xfrm>
          <a:prstGeom prst="rect">
            <a:avLst/>
          </a:prstGeom>
          <a:noFill/>
          <a:ln/>
        </p:spPr>
        <p:txBody>
          <a:bodyPr wrap="square" rtlCol="0" anchor="t"/>
          <a:lstStyle/>
          <a:p>
            <a:pPr algn="l" indent="0" marL="0">
              <a:buNone/>
            </a:pPr>
            <a:r>
              <a:rPr lang="en-US" sz="1600" dirty="0">
                <a:solidFill>
                  <a:srgbClr val="CADCFC"/>
                </a:solidFill>
                <a:latin typeface="Calibri" pitchFamily="34" charset="0"/>
                <a:ea typeface="Calibri" pitchFamily="34" charset="-122"/>
                <a:cs typeface="Calibri" pitchFamily="34" charset="-120"/>
              </a:rPr>
              <a:t>What we asked and why a regulator should care.</a:t>
            </a:r>
            <a:endParaRPr lang="en-US" sz="1600" dirty="0"/>
          </a:p>
        </p:txBody>
      </p:sp>
      <p:sp>
        <p:nvSpPr>
          <p:cNvPr id="6" name="Text 4"/>
          <p:cNvSpPr/>
          <p:nvPr/>
        </p:nvSpPr>
        <p:spPr>
          <a:xfrm>
            <a:off x="10088575" y="502920"/>
            <a:ext cx="1737360" cy="365760"/>
          </a:xfrm>
          <a:prstGeom prst="rect">
            <a:avLst/>
          </a:prstGeom>
          <a:noFill/>
          <a:ln/>
        </p:spPr>
        <p:txBody>
          <a:bodyPr wrap="square" rtlCol="0" anchor="ctr"/>
          <a:lstStyle/>
          <a:p>
            <a:pPr algn="r" indent="0" marL="0">
              <a:buNone/>
            </a:pPr>
            <a:r>
              <a:rPr lang="en-US" sz="1000" spc="200" kern="0" dirty="0">
                <a:solidFill>
                  <a:srgbClr val="5E8EBF"/>
                </a:solidFill>
                <a:latin typeface="Calibri" pitchFamily="34" charset="0"/>
                <a:ea typeface="Calibri" pitchFamily="34" charset="-122"/>
                <a:cs typeface="Calibri" pitchFamily="34" charset="-120"/>
              </a:rPr>
              <a:t>Section 01 of 04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Why this matters</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02 / 13</a:t>
            </a:r>
            <a:endParaRPr lang="en-US" sz="1100" dirty="0"/>
          </a:p>
        </p:txBody>
      </p:sp>
      <p:pic>
        <p:nvPicPr>
          <p:cNvPr id="4" name="Image 0" descr="/Users/ryanlindberg/Desktop/Github/costco-australia-sc/presentation/plots/02_market_concentration.png">    </p:cNvPr>
          <p:cNvPicPr>
            <a:picLocks noChangeAspect="1"/>
          </p:cNvPicPr>
          <p:nvPr/>
        </p:nvPicPr>
        <p:blipFill>
          <a:blip r:embed="rId1"/>
          <a:stretch>
            <a:fillRect/>
          </a:stretch>
        </p:blipFill>
        <p:spPr>
          <a:xfrm>
            <a:off x="384048" y="1102349"/>
            <a:ext cx="11423599" cy="54762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Our causal question</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03 / 13</a:t>
            </a:r>
            <a:endParaRPr lang="en-US" sz="1100" dirty="0"/>
          </a:p>
        </p:txBody>
      </p:sp>
      <p:pic>
        <p:nvPicPr>
          <p:cNvPr id="4" name="Image 0" descr="/Users/ryanlindberg/Desktop/Github/costco-australia-sc/presentation/plots/03_market_unit.png">    </p:cNvPr>
          <p:cNvPicPr>
            <a:picLocks noChangeAspect="1"/>
          </p:cNvPicPr>
          <p:nvPr/>
        </p:nvPicPr>
        <p:blipFill>
          <a:blip r:embed="rId1"/>
          <a:stretch>
            <a:fillRect/>
          </a:stretch>
        </p:blipFill>
        <p:spPr>
          <a:xfrm>
            <a:off x="3314581" y="1097280"/>
            <a:ext cx="5562534" cy="548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Where we end up</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04 / 13</a:t>
            </a:r>
            <a:endParaRPr lang="en-US" sz="1100" dirty="0"/>
          </a:p>
        </p:txBody>
      </p:sp>
      <p:pic>
        <p:nvPicPr>
          <p:cNvPr id="4" name="Image 0" descr="/Users/ryanlindberg/Desktop/Github/costco-australia-sc/presentation/plots/04_bluf_preview.png">    </p:cNvPr>
          <p:cNvPicPr>
            <a:picLocks noChangeAspect="1"/>
          </p:cNvPicPr>
          <p:nvPr/>
        </p:nvPicPr>
        <p:blipFill>
          <a:blip r:embed="rId1"/>
          <a:stretch>
            <a:fillRect/>
          </a:stretch>
        </p:blipFill>
        <p:spPr>
          <a:xfrm>
            <a:off x="384048" y="1590602"/>
            <a:ext cx="11423599" cy="44997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14400" y="2423160"/>
            <a:ext cx="640080" cy="41148"/>
          </a:xfrm>
          <a:prstGeom prst="rect">
            <a:avLst/>
          </a:prstGeom>
          <a:solidFill>
            <a:srgbClr val="5E8EBF"/>
          </a:solidFill>
          <a:ln w="12700">
            <a:solidFill>
              <a:srgbClr val="5E8EBF"/>
            </a:solidFill>
            <a:prstDash val="solid"/>
          </a:ln>
        </p:spPr>
      </p:sp>
      <p:sp>
        <p:nvSpPr>
          <p:cNvPr id="3" name="Text 1"/>
          <p:cNvSpPr/>
          <p:nvPr/>
        </p:nvSpPr>
        <p:spPr>
          <a:xfrm>
            <a:off x="914400" y="2606040"/>
            <a:ext cx="2743200" cy="1463040"/>
          </a:xfrm>
          <a:prstGeom prst="rect">
            <a:avLst/>
          </a:prstGeom>
          <a:noFill/>
          <a:ln/>
        </p:spPr>
        <p:txBody>
          <a:bodyPr wrap="square" lIns="0" tIns="0" rIns="0" bIns="0" rtlCol="0" anchor="t"/>
          <a:lstStyle/>
          <a:p>
            <a:pPr algn="l" indent="0" marL="0">
              <a:buNone/>
            </a:pPr>
            <a:r>
              <a:rPr lang="en-US" sz="9600" b="1" dirty="0">
                <a:solidFill>
                  <a:srgbClr val="5E8EBF"/>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914400" y="4206240"/>
            <a:ext cx="10058400" cy="914400"/>
          </a:xfrm>
          <a:prstGeom prst="rect">
            <a:avLst/>
          </a:prstGeom>
          <a:noFill/>
          <a:ln/>
        </p:spPr>
        <p:txBody>
          <a:bodyPr wrap="square" lIns="0" tIns="0" rIns="0" bIns="0" rtlCol="0" anchor="t"/>
          <a:lstStyle/>
          <a:p>
            <a:pPr algn="l" indent="0" marL="0">
              <a:buNone/>
            </a:pPr>
            <a:r>
              <a:rPr lang="en-US" sz="4800" b="1" spc="200" kern="0" dirty="0">
                <a:solidFill>
                  <a:srgbClr val="FFFFFF"/>
                </a:solidFill>
                <a:latin typeface="Georgia" pitchFamily="34" charset="0"/>
                <a:ea typeface="Georgia" pitchFamily="34" charset="-122"/>
                <a:cs typeface="Georgia" pitchFamily="34" charset="-120"/>
              </a:rPr>
              <a:t>DATA &amp; METHOD</a:t>
            </a:r>
            <a:endParaRPr lang="en-US" sz="4800" dirty="0"/>
          </a:p>
        </p:txBody>
      </p:sp>
      <p:sp>
        <p:nvSpPr>
          <p:cNvPr id="5" name="Text 3"/>
          <p:cNvSpPr/>
          <p:nvPr/>
        </p:nvSpPr>
        <p:spPr>
          <a:xfrm>
            <a:off x="914400" y="5166360"/>
            <a:ext cx="10058400" cy="731520"/>
          </a:xfrm>
          <a:prstGeom prst="rect">
            <a:avLst/>
          </a:prstGeom>
          <a:noFill/>
          <a:ln/>
        </p:spPr>
        <p:txBody>
          <a:bodyPr wrap="square" rtlCol="0" anchor="t"/>
          <a:lstStyle/>
          <a:p>
            <a:pPr algn="l" indent="0" marL="0">
              <a:buNone/>
            </a:pPr>
            <a:r>
              <a:rPr lang="en-US" sz="1600" dirty="0">
                <a:solidFill>
                  <a:srgbClr val="CADCFC"/>
                </a:solidFill>
                <a:latin typeface="Calibri" pitchFamily="34" charset="0"/>
                <a:ea typeface="Calibri" pitchFamily="34" charset="-122"/>
                <a:cs typeface="Calibri" pitchFamily="34" charset="-120"/>
              </a:rPr>
              <a:t>Where the data came from, and how we built the counterfactual.</a:t>
            </a:r>
            <a:endParaRPr lang="en-US" sz="1600" dirty="0"/>
          </a:p>
        </p:txBody>
      </p:sp>
      <p:sp>
        <p:nvSpPr>
          <p:cNvPr id="6" name="Text 4"/>
          <p:cNvSpPr/>
          <p:nvPr/>
        </p:nvSpPr>
        <p:spPr>
          <a:xfrm>
            <a:off x="10088575" y="502920"/>
            <a:ext cx="1737360" cy="365760"/>
          </a:xfrm>
          <a:prstGeom prst="rect">
            <a:avLst/>
          </a:prstGeom>
          <a:noFill/>
          <a:ln/>
        </p:spPr>
        <p:txBody>
          <a:bodyPr wrap="square" rtlCol="0" anchor="ctr"/>
          <a:lstStyle/>
          <a:p>
            <a:pPr algn="r" indent="0" marL="0">
              <a:buNone/>
            </a:pPr>
            <a:r>
              <a:rPr lang="en-US" sz="1000" spc="200" kern="0" dirty="0">
                <a:solidFill>
                  <a:srgbClr val="5E8EBF"/>
                </a:solidFill>
                <a:latin typeface="Calibri" pitchFamily="34" charset="0"/>
                <a:ea typeface="Calibri" pitchFamily="34" charset="-122"/>
                <a:cs typeface="Calibri" pitchFamily="34" charset="-120"/>
              </a:rPr>
              <a:t>Section 02 of 04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Our data</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05 / 13</a:t>
            </a:r>
            <a:endParaRPr lang="en-US" sz="1100" dirty="0"/>
          </a:p>
        </p:txBody>
      </p:sp>
      <p:pic>
        <p:nvPicPr>
          <p:cNvPr id="4" name="Image 0" descr="/Users/ryanlindberg/Desktop/Github/costco-australia-sc/presentation/plots/05_data_pipeline.png">    </p:cNvPr>
          <p:cNvPicPr>
            <a:picLocks noChangeAspect="1"/>
          </p:cNvPicPr>
          <p:nvPr/>
        </p:nvPicPr>
        <p:blipFill>
          <a:blip r:embed="rId1"/>
          <a:stretch>
            <a:fillRect/>
          </a:stretch>
        </p:blipFill>
        <p:spPr>
          <a:xfrm>
            <a:off x="384048" y="1712242"/>
            <a:ext cx="11423599" cy="42564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What the data looks like</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06 / 13</a:t>
            </a:r>
            <a:endParaRPr lang="en-US" sz="1100" dirty="0"/>
          </a:p>
        </p:txBody>
      </p:sp>
      <p:pic>
        <p:nvPicPr>
          <p:cNvPr id="4" name="Image 0" descr="/Users/ryanlindberg/Desktop/Github/costco-australia-sc/presentation/plots/06_all_stations.png">    </p:cNvPr>
          <p:cNvPicPr>
            <a:picLocks noChangeAspect="1"/>
          </p:cNvPicPr>
          <p:nvPr/>
        </p:nvPicPr>
        <p:blipFill>
          <a:blip r:embed="rId1"/>
          <a:stretch>
            <a:fillRect/>
          </a:stretch>
        </p:blipFill>
        <p:spPr>
          <a:xfrm>
            <a:off x="2502721" y="1097280"/>
            <a:ext cx="7186254"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From universe to sample</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07 / 13</a:t>
            </a:r>
            <a:endParaRPr lang="en-US" sz="1100" dirty="0"/>
          </a:p>
        </p:txBody>
      </p:sp>
      <p:pic>
        <p:nvPicPr>
          <p:cNvPr id="4" name="Image 0" descr="/Users/ryanlindberg/Desktop/Github/costco-australia-sc/presentation/plots/07_sample_funnel.png">    </p:cNvPr>
          <p:cNvPicPr>
            <a:picLocks noChangeAspect="1"/>
          </p:cNvPicPr>
          <p:nvPr/>
        </p:nvPicPr>
        <p:blipFill>
          <a:blip r:embed="rId1"/>
          <a:stretch>
            <a:fillRect/>
          </a:stretch>
        </p:blipFill>
        <p:spPr>
          <a:xfrm>
            <a:off x="890330" y="1097280"/>
            <a:ext cx="10411035" cy="548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Identification strategy</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08 / 13</a:t>
            </a:r>
            <a:endParaRPr lang="en-US" sz="1100" dirty="0"/>
          </a:p>
        </p:txBody>
      </p:sp>
      <p:pic>
        <p:nvPicPr>
          <p:cNvPr id="4" name="Image 0" descr="/Users/ryanlindberg/Desktop/Github/costco-australia-sc/presentation/plots/08_costcos_rings_donors.png">    </p:cNvPr>
          <p:cNvPicPr>
            <a:picLocks noChangeAspect="1"/>
          </p:cNvPicPr>
          <p:nvPr/>
        </p:nvPicPr>
        <p:blipFill>
          <a:blip r:embed="rId1"/>
          <a:stretch>
            <a:fillRect/>
          </a:stretch>
        </p:blipFill>
        <p:spPr>
          <a:xfrm>
            <a:off x="1910892" y="1097280"/>
            <a:ext cx="8369912" cy="548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14400" y="2423160"/>
            <a:ext cx="640080" cy="41148"/>
          </a:xfrm>
          <a:prstGeom prst="rect">
            <a:avLst/>
          </a:prstGeom>
          <a:solidFill>
            <a:srgbClr val="5E8EBF"/>
          </a:solidFill>
          <a:ln w="12700">
            <a:solidFill>
              <a:srgbClr val="5E8EBF"/>
            </a:solidFill>
            <a:prstDash val="solid"/>
          </a:ln>
        </p:spPr>
      </p:sp>
      <p:sp>
        <p:nvSpPr>
          <p:cNvPr id="3" name="Text 1"/>
          <p:cNvSpPr/>
          <p:nvPr/>
        </p:nvSpPr>
        <p:spPr>
          <a:xfrm>
            <a:off x="914400" y="2606040"/>
            <a:ext cx="2743200" cy="1463040"/>
          </a:xfrm>
          <a:prstGeom prst="rect">
            <a:avLst/>
          </a:prstGeom>
          <a:noFill/>
          <a:ln/>
        </p:spPr>
        <p:txBody>
          <a:bodyPr wrap="square" lIns="0" tIns="0" rIns="0" bIns="0" rtlCol="0" anchor="t"/>
          <a:lstStyle/>
          <a:p>
            <a:pPr algn="l" indent="0" marL="0">
              <a:buNone/>
            </a:pPr>
            <a:r>
              <a:rPr lang="en-US" sz="9600" b="1" dirty="0">
                <a:solidFill>
                  <a:srgbClr val="5E8EBF"/>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914400" y="4206240"/>
            <a:ext cx="10058400" cy="914400"/>
          </a:xfrm>
          <a:prstGeom prst="rect">
            <a:avLst/>
          </a:prstGeom>
          <a:noFill/>
          <a:ln/>
        </p:spPr>
        <p:txBody>
          <a:bodyPr wrap="square" lIns="0" tIns="0" rIns="0" bIns="0" rtlCol="0" anchor="t"/>
          <a:lstStyle/>
          <a:p>
            <a:pPr algn="l" indent="0" marL="0">
              <a:buNone/>
            </a:pPr>
            <a:r>
              <a:rPr lang="en-US" sz="4800" b="1" spc="200" kern="0" dirty="0">
                <a:solidFill>
                  <a:srgbClr val="FFFFFF"/>
                </a:solidFill>
                <a:latin typeface="Georgia" pitchFamily="34" charset="0"/>
                <a:ea typeface="Georgia" pitchFamily="34" charset="-122"/>
                <a:cs typeface="Georgia" pitchFamily="34" charset="-120"/>
              </a:rPr>
              <a:t>WHAT WE FOUND</a:t>
            </a:r>
            <a:endParaRPr lang="en-US" sz="4800" dirty="0"/>
          </a:p>
        </p:txBody>
      </p:sp>
      <p:sp>
        <p:nvSpPr>
          <p:cNvPr id="5" name="Text 3"/>
          <p:cNvSpPr/>
          <p:nvPr/>
        </p:nvSpPr>
        <p:spPr>
          <a:xfrm>
            <a:off x="914400" y="5166360"/>
            <a:ext cx="10058400" cy="731520"/>
          </a:xfrm>
          <a:prstGeom prst="rect">
            <a:avLst/>
          </a:prstGeom>
          <a:noFill/>
          <a:ln/>
        </p:spPr>
        <p:txBody>
          <a:bodyPr wrap="square" rtlCol="0" anchor="t"/>
          <a:lstStyle/>
          <a:p>
            <a:pPr algn="l" indent="0" marL="0">
              <a:buNone/>
            </a:pPr>
            <a:r>
              <a:rPr lang="en-US" sz="1600" dirty="0">
                <a:solidFill>
                  <a:srgbClr val="CADCFC"/>
                </a:solidFill>
                <a:latin typeface="Calibri" pitchFamily="34" charset="0"/>
                <a:ea typeface="Calibri" pitchFamily="34" charset="-122"/>
                <a:cs typeface="Calibri" pitchFamily="34" charset="-120"/>
              </a:rPr>
              <a:t>The headline result and how it holds up across all four Costcos.</a:t>
            </a:r>
            <a:endParaRPr lang="en-US" sz="1600" dirty="0"/>
          </a:p>
        </p:txBody>
      </p:sp>
      <p:sp>
        <p:nvSpPr>
          <p:cNvPr id="6" name="Text 4"/>
          <p:cNvSpPr/>
          <p:nvPr/>
        </p:nvSpPr>
        <p:spPr>
          <a:xfrm>
            <a:off x="10088575" y="502920"/>
            <a:ext cx="1737360" cy="365760"/>
          </a:xfrm>
          <a:prstGeom prst="rect">
            <a:avLst/>
          </a:prstGeom>
          <a:noFill/>
          <a:ln/>
        </p:spPr>
        <p:txBody>
          <a:bodyPr wrap="square" rtlCol="0" anchor="ctr"/>
          <a:lstStyle/>
          <a:p>
            <a:pPr algn="r" indent="0" marL="0">
              <a:buNone/>
            </a:pPr>
            <a:r>
              <a:rPr lang="en-US" sz="1000" spc="200" kern="0" dirty="0">
                <a:solidFill>
                  <a:srgbClr val="5E8EBF"/>
                </a:solidFill>
                <a:latin typeface="Calibri" pitchFamily="34" charset="0"/>
                <a:ea typeface="Calibri" pitchFamily="34" charset="-122"/>
                <a:cs typeface="Calibri" pitchFamily="34" charset="-120"/>
              </a:rPr>
              <a:t>Section 03 of 04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Headline result</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09 / 13</a:t>
            </a:r>
            <a:endParaRPr lang="en-US" sz="1100" dirty="0"/>
          </a:p>
        </p:txBody>
      </p:sp>
      <p:pic>
        <p:nvPicPr>
          <p:cNvPr id="4" name="Image 0" descr="/Users/ryanlindberg/Desktop/Github/costco-australia-sc/presentation/plots/09_costco_trajectories.png">    </p:cNvPr>
          <p:cNvPicPr>
            <a:picLocks noChangeAspect="1"/>
          </p:cNvPicPr>
          <p:nvPr/>
        </p:nvPicPr>
        <p:blipFill>
          <a:blip r:embed="rId1"/>
          <a:stretch>
            <a:fillRect/>
          </a:stretch>
        </p:blipFill>
        <p:spPr>
          <a:xfrm>
            <a:off x="2581908" y="1097280"/>
            <a:ext cx="7027880" cy="5486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Does it generalize?</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 / 13</a:t>
            </a:r>
            <a:endParaRPr lang="en-US" sz="1100" dirty="0"/>
          </a:p>
        </p:txBody>
      </p:sp>
      <p:pic>
        <p:nvPicPr>
          <p:cNvPr id="4" name="Image 0" descr="/Users/ryanlindberg/Desktop/Github/costco-australia-sc/presentation/plots/10_forest_plot.png">    </p:cNvPr>
          <p:cNvPicPr>
            <a:picLocks noChangeAspect="1"/>
          </p:cNvPicPr>
          <p:nvPr/>
        </p:nvPicPr>
        <p:blipFill>
          <a:blip r:embed="rId1"/>
          <a:stretch>
            <a:fillRect/>
          </a:stretch>
        </p:blipFill>
        <p:spPr>
          <a:xfrm>
            <a:off x="384048" y="1344247"/>
            <a:ext cx="11423599" cy="49924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Did we just get lucky?</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 / 13</a:t>
            </a:r>
            <a:endParaRPr lang="en-US" sz="1100" dirty="0"/>
          </a:p>
        </p:txBody>
      </p:sp>
      <p:pic>
        <p:nvPicPr>
          <p:cNvPr id="4" name="Image 0" descr="/Users/ryanlindberg/Desktop/Github/costco-australia-sc/presentation/plots/11_placebo_robustness.png">    </p:cNvPr>
          <p:cNvPicPr>
            <a:picLocks noChangeAspect="1"/>
          </p:cNvPicPr>
          <p:nvPr/>
        </p:nvPicPr>
        <p:blipFill>
          <a:blip r:embed="rId1"/>
          <a:stretch>
            <a:fillRect/>
          </a:stretch>
        </p:blipFill>
        <p:spPr>
          <a:xfrm>
            <a:off x="1619596" y="1097280"/>
            <a:ext cx="8952503" cy="5486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14400" y="2423160"/>
            <a:ext cx="640080" cy="41148"/>
          </a:xfrm>
          <a:prstGeom prst="rect">
            <a:avLst/>
          </a:prstGeom>
          <a:solidFill>
            <a:srgbClr val="5E8EBF"/>
          </a:solidFill>
          <a:ln w="12700">
            <a:solidFill>
              <a:srgbClr val="5E8EBF"/>
            </a:solidFill>
            <a:prstDash val="solid"/>
          </a:ln>
        </p:spPr>
      </p:sp>
      <p:sp>
        <p:nvSpPr>
          <p:cNvPr id="3" name="Text 1"/>
          <p:cNvSpPr/>
          <p:nvPr/>
        </p:nvSpPr>
        <p:spPr>
          <a:xfrm>
            <a:off x="914400" y="2606040"/>
            <a:ext cx="2743200" cy="1463040"/>
          </a:xfrm>
          <a:prstGeom prst="rect">
            <a:avLst/>
          </a:prstGeom>
          <a:noFill/>
          <a:ln/>
        </p:spPr>
        <p:txBody>
          <a:bodyPr wrap="square" lIns="0" tIns="0" rIns="0" bIns="0" rtlCol="0" anchor="t"/>
          <a:lstStyle/>
          <a:p>
            <a:pPr algn="l" indent="0" marL="0">
              <a:buNone/>
            </a:pPr>
            <a:r>
              <a:rPr lang="en-US" sz="9600" b="1" dirty="0">
                <a:solidFill>
                  <a:srgbClr val="5E8EBF"/>
                </a:solidFill>
                <a:latin typeface="Georgia" pitchFamily="34" charset="0"/>
                <a:ea typeface="Georgia" pitchFamily="34" charset="-122"/>
                <a:cs typeface="Georgia" pitchFamily="34" charset="-120"/>
              </a:rPr>
              <a:t>04</a:t>
            </a:r>
            <a:endParaRPr lang="en-US" sz="9600" dirty="0"/>
          </a:p>
        </p:txBody>
      </p:sp>
      <p:sp>
        <p:nvSpPr>
          <p:cNvPr id="4" name="Text 2"/>
          <p:cNvSpPr/>
          <p:nvPr/>
        </p:nvSpPr>
        <p:spPr>
          <a:xfrm>
            <a:off x="914400" y="4206240"/>
            <a:ext cx="10058400" cy="914400"/>
          </a:xfrm>
          <a:prstGeom prst="rect">
            <a:avLst/>
          </a:prstGeom>
          <a:noFill/>
          <a:ln/>
        </p:spPr>
        <p:txBody>
          <a:bodyPr wrap="square" lIns="0" tIns="0" rIns="0" bIns="0" rtlCol="0" anchor="t"/>
          <a:lstStyle/>
          <a:p>
            <a:pPr algn="l" indent="0" marL="0">
              <a:buNone/>
            </a:pPr>
            <a:r>
              <a:rPr lang="en-US" sz="4800" b="1" spc="200" kern="0" dirty="0">
                <a:solidFill>
                  <a:srgbClr val="FFFFFF"/>
                </a:solidFill>
                <a:latin typeface="Georgia" pitchFamily="34" charset="0"/>
                <a:ea typeface="Georgia" pitchFamily="34" charset="-122"/>
                <a:cs typeface="Georgia" pitchFamily="34" charset="-120"/>
              </a:rPr>
              <a:t>WHAT TO DO</a:t>
            </a:r>
            <a:endParaRPr lang="en-US" sz="4800" dirty="0"/>
          </a:p>
        </p:txBody>
      </p:sp>
      <p:sp>
        <p:nvSpPr>
          <p:cNvPr id="5" name="Text 3"/>
          <p:cNvSpPr/>
          <p:nvPr/>
        </p:nvSpPr>
        <p:spPr>
          <a:xfrm>
            <a:off x="914400" y="5166360"/>
            <a:ext cx="10058400" cy="731520"/>
          </a:xfrm>
          <a:prstGeom prst="rect">
            <a:avLst/>
          </a:prstGeom>
          <a:noFill/>
          <a:ln/>
        </p:spPr>
        <p:txBody>
          <a:bodyPr wrap="square" rtlCol="0" anchor="t"/>
          <a:lstStyle/>
          <a:p>
            <a:pPr algn="l" indent="0" marL="0">
              <a:buNone/>
            </a:pPr>
            <a:r>
              <a:rPr lang="en-US" sz="1600" dirty="0">
                <a:solidFill>
                  <a:srgbClr val="CADCFC"/>
                </a:solidFill>
                <a:latin typeface="Calibri" pitchFamily="34" charset="0"/>
                <a:ea typeface="Calibri" pitchFamily="34" charset="-122"/>
                <a:cs typeface="Calibri" pitchFamily="34" charset="-120"/>
              </a:rPr>
              <a:t>Our recommendation to the ACCC, and what we can’t claim.</a:t>
            </a:r>
            <a:endParaRPr lang="en-US" sz="1600" dirty="0"/>
          </a:p>
        </p:txBody>
      </p:sp>
      <p:sp>
        <p:nvSpPr>
          <p:cNvPr id="6" name="Text 4"/>
          <p:cNvSpPr/>
          <p:nvPr/>
        </p:nvSpPr>
        <p:spPr>
          <a:xfrm>
            <a:off x="10088575" y="502920"/>
            <a:ext cx="1737360" cy="365760"/>
          </a:xfrm>
          <a:prstGeom prst="rect">
            <a:avLst/>
          </a:prstGeom>
          <a:noFill/>
          <a:ln/>
        </p:spPr>
        <p:txBody>
          <a:bodyPr wrap="square" rtlCol="0" anchor="ctr"/>
          <a:lstStyle/>
          <a:p>
            <a:pPr algn="r" indent="0" marL="0">
              <a:buNone/>
            </a:pPr>
            <a:r>
              <a:rPr lang="en-US" sz="1000" spc="200" kern="0" dirty="0">
                <a:solidFill>
                  <a:srgbClr val="5E8EBF"/>
                </a:solidFill>
                <a:latin typeface="Calibri" pitchFamily="34" charset="0"/>
                <a:ea typeface="Calibri" pitchFamily="34" charset="-122"/>
                <a:cs typeface="Calibri" pitchFamily="34" charset="-120"/>
              </a:rPr>
              <a:t>Section 04 of 04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Recommendation</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 / 13</a:t>
            </a:r>
            <a:endParaRPr lang="en-US" sz="1100" dirty="0"/>
          </a:p>
        </p:txBody>
      </p:sp>
      <p:pic>
        <p:nvPicPr>
          <p:cNvPr id="4" name="Image 0" descr="/Users/ryanlindberg/Desktop/Github/costco-australia-sc/presentation/plots/12_recommendation.png">    </p:cNvPr>
          <p:cNvPicPr>
            <a:picLocks noChangeAspect="1"/>
          </p:cNvPicPr>
          <p:nvPr/>
        </p:nvPicPr>
        <p:blipFill>
          <a:blip r:embed="rId1"/>
          <a:stretch>
            <a:fillRect/>
          </a:stretch>
        </p:blipFill>
        <p:spPr>
          <a:xfrm>
            <a:off x="384048" y="1334850"/>
            <a:ext cx="11423599" cy="50112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411480"/>
            <a:ext cx="8686800" cy="548640"/>
          </a:xfrm>
          <a:prstGeom prst="rect">
            <a:avLst/>
          </a:prstGeom>
          <a:noFill/>
          <a:ln/>
        </p:spPr>
        <p:txBody>
          <a:bodyPr wrap="square" lIns="0" tIns="0" rIns="0" bIns="0" rtlCol="0" anchor="ctr"/>
          <a:lstStyle/>
          <a:p>
            <a:pPr algn="l" indent="0" marL="0">
              <a:buNone/>
            </a:pPr>
            <a:r>
              <a:rPr lang="en-US" sz="3200" b="1" dirty="0">
                <a:solidFill>
                  <a:srgbClr val="212121"/>
                </a:solidFill>
                <a:latin typeface="Georgia" pitchFamily="34" charset="0"/>
                <a:ea typeface="Georgia" pitchFamily="34" charset="-122"/>
                <a:cs typeface="Georgia" pitchFamily="34" charset="-120"/>
              </a:rPr>
              <a:t>What we can't claim</a:t>
            </a:r>
            <a:endParaRPr lang="en-US" sz="3200" dirty="0"/>
          </a:p>
        </p:txBody>
      </p:sp>
      <p:sp>
        <p:nvSpPr>
          <p:cNvPr id="3" name="Text 1"/>
          <p:cNvSpPr/>
          <p:nvPr/>
        </p:nvSpPr>
        <p:spPr>
          <a:xfrm>
            <a:off x="10436047" y="411480"/>
            <a:ext cx="1371600" cy="54864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 / 13</a:t>
            </a:r>
            <a:endParaRPr lang="en-US" sz="1100" dirty="0"/>
          </a:p>
        </p:txBody>
      </p:sp>
      <p:pic>
        <p:nvPicPr>
          <p:cNvPr id="4" name="Image 0" descr="/Users/ryanlindberg/Desktop/Github/costco-australia-sc/presentation/plots/13_limitations.png">    </p:cNvPr>
          <p:cNvPicPr>
            <a:picLocks noChangeAspect="1"/>
          </p:cNvPicPr>
          <p:nvPr/>
        </p:nvPicPr>
        <p:blipFill>
          <a:blip r:embed="rId1"/>
          <a:stretch>
            <a:fillRect/>
          </a:stretch>
        </p:blipFill>
        <p:spPr>
          <a:xfrm>
            <a:off x="386947" y="1097280"/>
            <a:ext cx="11417801" cy="5486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t"/>
          <a:lstStyle/>
          <a:p>
            <a:pPr algn="l" indent="0" marL="0">
              <a:buNone/>
            </a:pPr>
            <a:r>
              <a:rPr lang="en-US" sz="1400" b="1" spc="400" kern="0" dirty="0">
                <a:solidFill>
                  <a:srgbClr val="8FB8DD"/>
                </a:solidFill>
                <a:latin typeface="Calibri" pitchFamily="34" charset="0"/>
                <a:ea typeface="Calibri" pitchFamily="34" charset="-122"/>
                <a:cs typeface="Calibri" pitchFamily="34" charset="-120"/>
              </a:rPr>
              <a:t>MGT159  ·  Advising the ACCC</a:t>
            </a:r>
            <a:endParaRPr lang="en-US" sz="1400" dirty="0"/>
          </a:p>
        </p:txBody>
      </p:sp>
      <p:sp>
        <p:nvSpPr>
          <p:cNvPr id="3" name="Text 1"/>
          <p:cNvSpPr/>
          <p:nvPr/>
        </p:nvSpPr>
        <p:spPr>
          <a:xfrm>
            <a:off x="640080" y="2377440"/>
            <a:ext cx="10972800" cy="1554480"/>
          </a:xfrm>
          <a:prstGeom prst="rect">
            <a:avLst/>
          </a:prstGeom>
          <a:noFill/>
          <a:ln/>
        </p:spPr>
        <p:txBody>
          <a:bodyPr wrap="square" rtlCol="0" anchor="t"/>
          <a:lstStyle/>
          <a:p>
            <a:pPr algn="l" indent="0" marL="0">
              <a:buNone/>
            </a:pPr>
            <a:r>
              <a:rPr lang="en-US" sz="8400" b="1" dirty="0">
                <a:solidFill>
                  <a:srgbClr val="FFFFFF"/>
                </a:solidFill>
                <a:latin typeface="Georgia" pitchFamily="34" charset="0"/>
                <a:ea typeface="Georgia" pitchFamily="34" charset="-122"/>
                <a:cs typeface="Georgia" pitchFamily="34" charset="-120"/>
              </a:rPr>
              <a:t>Questions?</a:t>
            </a:r>
            <a:endParaRPr lang="en-US" sz="8400" dirty="0"/>
          </a:p>
        </p:txBody>
      </p:sp>
      <p:sp>
        <p:nvSpPr>
          <p:cNvPr id="4" name="Text 2"/>
          <p:cNvSpPr/>
          <p:nvPr/>
        </p:nvSpPr>
        <p:spPr>
          <a:xfrm>
            <a:off x="640080" y="4206240"/>
            <a:ext cx="10515600" cy="1097280"/>
          </a:xfrm>
          <a:prstGeom prst="rect">
            <a:avLst/>
          </a:prstGeom>
          <a:noFill/>
          <a:ln/>
        </p:spPr>
        <p:txBody>
          <a:bodyPr wrap="square" rtlCol="0" anchor="t"/>
          <a:lstStyle/>
          <a:p>
            <a:pPr algn="l" indent="0" marL="0">
              <a:lnSpc>
                <a:spcPct val="130000"/>
              </a:lnSpc>
              <a:buNone/>
            </a:pPr>
            <a:r>
              <a:rPr lang="en-US" sz="1800" dirty="0">
                <a:solidFill>
                  <a:srgbClr val="CADCFC"/>
                </a:solidFill>
                <a:latin typeface="Calibri" pitchFamily="34" charset="0"/>
                <a:ea typeface="Calibri" pitchFamily="34" charset="-122"/>
                <a:cs typeface="Calibri" pitchFamily="34" charset="-120"/>
              </a:rPr>
              <a:t>Full Quarto analysis and reproducible pipeline:</a:t>
            </a:r>
            <a:endParaRPr lang="en-US" sz="1800" dirty="0"/>
          </a:p>
          <a:p>
            <a:pPr algn="l" indent="0" marL="0">
              <a:lnSpc>
                <a:spcPct val="130000"/>
              </a:lnSpc>
              <a:buNone/>
            </a:pPr>
            <a:r>
              <a:rPr lang="en-US" sz="1800" dirty="0">
                <a:solidFill>
                  <a:srgbClr val="CADCFC"/>
                </a:solidFill>
                <a:latin typeface="Calibri" pitchFamily="34" charset="0"/>
                <a:ea typeface="Calibri" pitchFamily="34" charset="-122"/>
                <a:cs typeface="Calibri" pitchFamily="34" charset="-120"/>
              </a:rPr>
              <a:t>github.com  ·  costco-australia-sc</a:t>
            </a:r>
            <a:endParaRPr lang="en-US" sz="1800" dirty="0"/>
          </a:p>
        </p:txBody>
      </p:sp>
      <p:sp>
        <p:nvSpPr>
          <p:cNvPr id="5" name="Text 3"/>
          <p:cNvSpPr/>
          <p:nvPr/>
        </p:nvSpPr>
        <p:spPr>
          <a:xfrm>
            <a:off x="640080" y="6035040"/>
            <a:ext cx="10972800" cy="365760"/>
          </a:xfrm>
          <a:prstGeom prst="rect">
            <a:avLst/>
          </a:prstGeom>
          <a:noFill/>
          <a:ln/>
        </p:spPr>
        <p:txBody>
          <a:bodyPr wrap="square" rtlCol="0" anchor="ctr"/>
          <a:lstStyle/>
          <a:p>
            <a:pPr algn="l" indent="0" marL="0">
              <a:buNone/>
            </a:pPr>
            <a:r>
              <a:rPr lang="en-US" sz="1400" dirty="0">
                <a:solidFill>
                  <a:srgbClr val="8FB8DD"/>
                </a:solidFill>
                <a:latin typeface="Calibri" pitchFamily="34" charset="0"/>
                <a:ea typeface="Calibri" pitchFamily="34" charset="-122"/>
                <a:cs typeface="Calibri" pitchFamily="34" charset="-120"/>
              </a:rPr>
              <a:t>[Speaker 1]  ·  [Speaker 2]  ·  [Speaker 3]  ·  [Speaker 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Costco gas-station entry lower competitor fuel prices in Australia?</dc:title>
  <dc:subject>PptxGenJS Presentation</dc:subject>
  <dc:creator>MGT159 Group · advising the ACCC</dc:creator>
  <cp:lastModifiedBy>MGT159 Group · advising the ACCC</cp:lastModifiedBy>
  <cp:revision>1</cp:revision>
  <dcterms:created xsi:type="dcterms:W3CDTF">2026-05-27T20:46:03Z</dcterms:created>
  <dcterms:modified xsi:type="dcterms:W3CDTF">2026-05-27T20:46:03Z</dcterms:modified>
</cp:coreProperties>
</file>